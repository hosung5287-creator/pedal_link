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팜플렛" id="{9bf2cb85-bba5-957c-008b-98243e81f2b6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A4 세로 단면 팜플렛. 앱 화면은 테스트 계정으로 실제 앱을 실행해 캡처함(2026-10-04).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4_FLY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hyperlink" Target="https://github.com/hosung5287-creator/Pedal_link" TargetMode="External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hyperlink" Target="https://github.com/hosung5287-creator/Pedal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bg" descr="C:\Users\kimHosung\AppData\Local\Temp\claude\c--Users-kimHosung-projects\94f6d5d6-3c0b-4493-a2fe-c44580cd7572\scratchpad\pamphlet\assets\hero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3749040"/>
          </a:xfrm>
          <a:prstGeom prst="rect">
            <a:avLst/>
          </a:prstGeom>
        </p:spPr>
      </p:pic>
      <p:pic>
        <p:nvPicPr>
          <p:cNvPr id="3" name="logo" descr="PedalLink 로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2336"/>
            <a:ext cx="402336" cy="274320"/>
          </a:xfrm>
          <a:prstGeom prst="rect">
            <a:avLst/>
          </a:prstGeom>
        </p:spPr>
      </p:pic>
      <p:sp>
        <p:nvSpPr>
          <p:cNvPr id="4" name="brand"/>
          <p:cNvSpPr txBox="1"/>
          <p:nvPr/>
        </p:nvSpPr>
        <p:spPr>
          <a:xfrm>
            <a:off x="950976" y="3657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PedalLink</a:t>
            </a:r>
            <a:endParaRPr lang="en-US" sz="1800" dirty="0"/>
          </a:p>
        </p:txBody>
      </p:sp>
      <p:sp>
        <p:nvSpPr>
          <p:cNvPr id="5" name="eyebrow-pill"/>
          <p:cNvSpPr/>
          <p:nvPr/>
        </p:nvSpPr>
        <p:spPr>
          <a:xfrm>
            <a:off x="457200" y="914400"/>
            <a:ext cx="3246120" cy="274320"/>
          </a:xfrm>
          <a:prstGeom prst="roundRect">
            <a:avLst>
              <a:gd name="adj" fmla="val 50000"/>
            </a:avLst>
          </a:prstGeom>
          <a:solidFill>
            <a:schemeClr val="bg1">
              <a:alpha val="16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6" name="eyebrow"/>
          <p:cNvSpPr txBox="1"/>
          <p:nvPr/>
        </p:nvSpPr>
        <p:spPr>
          <a:xfrm>
            <a:off x="457200" y="914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자전거 경로 안내 · 협동 라이딩 플랫폼</a:t>
            </a:r>
            <a:endParaRPr lang="en-US" sz="950" dirty="0"/>
          </a:p>
        </p:txBody>
      </p:sp>
      <p:sp>
        <p:nvSpPr>
          <p:cNvPr id="7" name="headline"/>
          <p:cNvSpPr txBox="1"/>
          <p:nvPr/>
        </p:nvSpPr>
        <p:spPr>
          <a:xfrm>
            <a:off x="457200" y="1353312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근처 라이더와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바로,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달리는 자전거</a:t>
            </a:r>
            <a:endParaRPr lang="en-US" sz="3000" dirty="0"/>
          </a:p>
        </p:txBody>
      </p:sp>
      <p:sp>
        <p:nvSpPr>
          <p:cNvPr id="8" name="hero-sub"/>
          <p:cNvSpPr txBox="1"/>
          <p:nvPr/>
        </p:nvSpPr>
        <p:spPr>
          <a:xfrm>
            <a:off x="457200" y="279806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코스를 만들고, 근처 라이더와 함께 달리고, 기록을 나누는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자전거 플랫폼입니다.</a:t>
            </a:r>
            <a:endParaRPr lang="en-US" sz="1050" dirty="0"/>
          </a:p>
        </p:txBody>
      </p:sp>
      <p:sp>
        <p:nvSpPr>
          <p:cNvPr id="9" name="hero-pill-1"/>
          <p:cNvSpPr/>
          <p:nvPr/>
        </p:nvSpPr>
        <p:spPr>
          <a:xfrm>
            <a:off x="457200" y="3291840"/>
            <a:ext cx="1024128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0" name="hero-pill-text-1"/>
          <p:cNvSpPr txBox="1"/>
          <p:nvPr/>
        </p:nvSpPr>
        <p:spPr>
          <a:xfrm>
            <a:off x="457200" y="329184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</a:t>
            </a:r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코스 만들기</a:t>
            </a:r>
            <a:endParaRPr lang="en-US" sz="900" dirty="0"/>
          </a:p>
        </p:txBody>
      </p:sp>
      <p:sp>
        <p:nvSpPr>
          <p:cNvPr id="11" name="hero-pill-2"/>
          <p:cNvSpPr/>
          <p:nvPr/>
        </p:nvSpPr>
        <p:spPr>
          <a:xfrm>
            <a:off x="1572768" y="3291840"/>
            <a:ext cx="1024128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2" name="hero-pill-text-2"/>
          <p:cNvSpPr txBox="1"/>
          <p:nvPr/>
        </p:nvSpPr>
        <p:spPr>
          <a:xfrm>
            <a:off x="1572768" y="329184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</a:t>
            </a:r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달리기</a:t>
            </a:r>
            <a:endParaRPr lang="en-US" sz="900" dirty="0"/>
          </a:p>
        </p:txBody>
      </p:sp>
      <p:sp>
        <p:nvSpPr>
          <p:cNvPr id="13" name="hero-pill-3"/>
          <p:cNvSpPr/>
          <p:nvPr/>
        </p:nvSpPr>
        <p:spPr>
          <a:xfrm>
            <a:off x="2688336" y="3291840"/>
            <a:ext cx="1024128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4" name="hero-pill-text-3"/>
          <p:cNvSpPr txBox="1"/>
          <p:nvPr/>
        </p:nvSpPr>
        <p:spPr>
          <a:xfrm>
            <a:off x="2688336" y="329184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</a:t>
            </a:r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기록·공유</a:t>
            </a:r>
            <a:endParaRPr lang="en-US" sz="900" dirty="0"/>
          </a:p>
        </p:txBody>
      </p:sp>
      <p:sp>
        <p:nvSpPr>
          <p:cNvPr id="15" name="phone-frame"/>
          <p:cNvSpPr/>
          <p:nvPr/>
        </p:nvSpPr>
        <p:spPr>
          <a:xfrm>
            <a:off x="5230368" y="384048"/>
            <a:ext cx="1847088" cy="3547872"/>
          </a:xfrm>
          <a:prstGeom prst="roundRect">
            <a:avLst>
              <a:gd name="adj" fmla="val 12871"/>
            </a:avLst>
          </a:prstGeom>
          <a:solidFill>
            <a:schemeClr val="tx1"/>
          </a:solidFill>
          <a:ln w="12700">
            <a:solidFill>
              <a:srgbClr val="1F3445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sp>
      <p:pic>
        <p:nvPicPr>
          <p:cNvPr id="16" name="phone-screen" descr="파티 라이딩 화면: 속도 20.6km/h, 0.33km, 0:58 경과, 멤버 3명의 속도와 지도 위 위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457200"/>
            <a:ext cx="1700784" cy="3401568"/>
          </a:xfrm>
          <a:prstGeom prst="rect">
            <a:avLst/>
          </a:prstGeom>
        </p:spPr>
      </p:pic>
      <p:sp>
        <p:nvSpPr>
          <p:cNvPr id="17" name="phone-callout"/>
          <p:cNvSpPr/>
          <p:nvPr/>
        </p:nvSpPr>
        <p:spPr>
          <a:xfrm>
            <a:off x="4224528" y="2395728"/>
            <a:ext cx="1298448" cy="402336"/>
          </a:xfrm>
          <a:prstGeom prst="roundRect">
            <a:avLst>
              <a:gd name="adj" fmla="val 2272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C1B27">
                <a:alpha val="10000"/>
              </a:srgbClr>
            </a:outerShdw>
          </a:effectLst>
        </p:spPr>
      </p:sp>
      <p:sp>
        <p:nvSpPr>
          <p:cNvPr id="18" name="phone-callout-text"/>
          <p:cNvSpPr txBox="1"/>
          <p:nvPr/>
        </p:nvSpPr>
        <p:spPr>
          <a:xfrm>
            <a:off x="4297680" y="24414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파티 라이딩 화면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멤버 위치·속도 실시간</a:t>
            </a:r>
            <a:endParaRPr lang="en-US" sz="750" dirty="0"/>
          </a:p>
        </p:txBody>
      </p:sp>
      <p:sp>
        <p:nvSpPr>
          <p:cNvPr id="19" name="sec2-title"/>
          <p:cNvSpPr txBox="1"/>
          <p:nvPr/>
        </p:nvSpPr>
        <p:spPr>
          <a:xfrm>
            <a:off x="457200" y="4078224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라이딩 준비, 이런 점이 불편했죠</a:t>
            </a:r>
            <a:endParaRPr lang="en-US" sz="1400" dirty="0"/>
          </a:p>
        </p:txBody>
      </p:sp>
      <p:sp>
        <p:nvSpPr>
          <p:cNvPr id="20" name="prob-card-1"/>
          <p:cNvSpPr/>
          <p:nvPr/>
        </p:nvSpPr>
        <p:spPr>
          <a:xfrm>
            <a:off x="457200" y="4425696"/>
            <a:ext cx="2093976" cy="786384"/>
          </a:xfrm>
          <a:prstGeom prst="roundRect">
            <a:avLst>
              <a:gd name="adj" fmla="val 1162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prob-ic-bg-1"/>
          <p:cNvSpPr/>
          <p:nvPr/>
        </p:nvSpPr>
        <p:spPr>
          <a:xfrm>
            <a:off x="585216" y="4608576"/>
            <a:ext cx="402336" cy="402336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pic>
        <p:nvPicPr>
          <p:cNvPr id="22" name="prob-ic-1" descr="C:\Users\kimHosung\AppData\Local\Temp\claude\c--Users-kimHosung-projects\94f6d5d6-3c0b-4493-a2fe-c44580cd7572\scratchpad\pamphlet\assets\ic_c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709160"/>
            <a:ext cx="201168" cy="201168"/>
          </a:xfrm>
          <a:prstGeom prst="rect">
            <a:avLst/>
          </a:prstGeom>
        </p:spPr>
      </p:pic>
      <p:sp>
        <p:nvSpPr>
          <p:cNvPr id="23" name="prob-before-1"/>
          <p:cNvSpPr txBox="1"/>
          <p:nvPr/>
        </p:nvSpPr>
        <p:spPr>
          <a:xfrm>
            <a:off x="1097280" y="4544568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trike="sngStrike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 중심 길안내</a:t>
            </a:r>
            <a:endParaRPr lang="en-US" sz="850" dirty="0"/>
          </a:p>
        </p:txBody>
      </p:sp>
      <p:sp>
        <p:nvSpPr>
          <p:cNvPr id="24" name="prob-after-1"/>
          <p:cNvSpPr txBox="1"/>
          <p:nvPr/>
        </p:nvSpPr>
        <p:spPr>
          <a:xfrm>
            <a:off x="1097280" y="4745736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자전거도로를 먼저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고르는 경로</a:t>
            </a:r>
            <a:endParaRPr lang="en-US" sz="1000" dirty="0"/>
          </a:p>
        </p:txBody>
      </p:sp>
      <p:sp>
        <p:nvSpPr>
          <p:cNvPr id="25" name="prob-card-2"/>
          <p:cNvSpPr/>
          <p:nvPr/>
        </p:nvSpPr>
        <p:spPr>
          <a:xfrm>
            <a:off x="2734056" y="4425696"/>
            <a:ext cx="2093976" cy="786384"/>
          </a:xfrm>
          <a:prstGeom prst="roundRect">
            <a:avLst>
              <a:gd name="adj" fmla="val 1162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prob-ic-bg-2"/>
          <p:cNvSpPr/>
          <p:nvPr/>
        </p:nvSpPr>
        <p:spPr>
          <a:xfrm>
            <a:off x="2862072" y="4608576"/>
            <a:ext cx="402336" cy="402336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pic>
        <p:nvPicPr>
          <p:cNvPr id="27" name="prob-ic-2" descr="C:\Users\kimHosung\AppData\Local\Temp\claude\c--Users-kimHosung-projects\94f6d5d6-3c0b-4493-a2fe-c44580cd7572\scratchpad\pamphlet\assets\ic_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2656" y="4709160"/>
            <a:ext cx="201168" cy="201168"/>
          </a:xfrm>
          <a:prstGeom prst="rect">
            <a:avLst/>
          </a:prstGeom>
        </p:spPr>
      </p:pic>
      <p:sp>
        <p:nvSpPr>
          <p:cNvPr id="28" name="prob-before-2"/>
          <p:cNvSpPr txBox="1"/>
          <p:nvPr/>
        </p:nvSpPr>
        <p:spPr>
          <a:xfrm>
            <a:off x="3374136" y="4544568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trike="sngStrike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라이딩 중 이탈·낙오</a:t>
            </a:r>
            <a:endParaRPr lang="en-US" sz="850" dirty="0"/>
          </a:p>
        </p:txBody>
      </p:sp>
      <p:sp>
        <p:nvSpPr>
          <p:cNvPr id="29" name="prob-after-2"/>
          <p:cNvSpPr txBox="1"/>
          <p:nvPr/>
        </p:nvSpPr>
        <p:spPr>
          <a:xfrm>
            <a:off x="3374136" y="4745736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위치 공유와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근접 알림</a:t>
            </a:r>
            <a:endParaRPr lang="en-US" sz="1000" dirty="0"/>
          </a:p>
        </p:txBody>
      </p:sp>
      <p:sp>
        <p:nvSpPr>
          <p:cNvPr id="30" name="prob-card-3"/>
          <p:cNvSpPr/>
          <p:nvPr/>
        </p:nvSpPr>
        <p:spPr>
          <a:xfrm>
            <a:off x="5010912" y="4425696"/>
            <a:ext cx="2093976" cy="786384"/>
          </a:xfrm>
          <a:prstGeom prst="roundRect">
            <a:avLst>
              <a:gd name="adj" fmla="val 1162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1" name="prob-ic-bg-3"/>
          <p:cNvSpPr/>
          <p:nvPr/>
        </p:nvSpPr>
        <p:spPr>
          <a:xfrm>
            <a:off x="5138928" y="4608576"/>
            <a:ext cx="402336" cy="402336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pic>
        <p:nvPicPr>
          <p:cNvPr id="32" name="prob-ic-3" descr="C:\Users\kimHosung\AppData\Local\Temp\claude\c--Users-kimHosung-projects\94f6d5d6-3c0b-4493-a2fe-c44580cd7572\scratchpad\pamphlet\assets\ic_sear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9512" y="4709160"/>
            <a:ext cx="201168" cy="201168"/>
          </a:xfrm>
          <a:prstGeom prst="rect">
            <a:avLst/>
          </a:prstGeom>
        </p:spPr>
      </p:pic>
      <p:sp>
        <p:nvSpPr>
          <p:cNvPr id="33" name="prob-before-3"/>
          <p:cNvSpPr txBox="1"/>
          <p:nvPr/>
        </p:nvSpPr>
        <p:spPr>
          <a:xfrm>
            <a:off x="5650992" y="4544568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trike="sngStrike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달릴 사람 구하기</a:t>
            </a:r>
            <a:endParaRPr lang="en-US" sz="850" dirty="0"/>
          </a:p>
        </p:txBody>
      </p:sp>
      <p:sp>
        <p:nvSpPr>
          <p:cNvPr id="34" name="prob-after-3"/>
          <p:cNvSpPr txBox="1"/>
          <p:nvPr/>
        </p:nvSpPr>
        <p:spPr>
          <a:xfrm>
            <a:off x="5650992" y="4745736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220m 근처 라이더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매칭·크루</a:t>
            </a:r>
            <a:endParaRPr lang="en-US" sz="1000" dirty="0"/>
          </a:p>
        </p:txBody>
      </p:sp>
      <p:sp>
        <p:nvSpPr>
          <p:cNvPr id="35" name="sec3-title"/>
          <p:cNvSpPr txBox="1"/>
          <p:nvPr/>
        </p:nvSpPr>
        <p:spPr>
          <a:xfrm>
            <a:off x="457200" y="5413248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PedalLink로 이렇게 달려요</a:t>
            </a:r>
            <a:endParaRPr lang="en-US" sz="1400" dirty="0"/>
          </a:p>
        </p:txBody>
      </p:sp>
      <p:sp>
        <p:nvSpPr>
          <p:cNvPr id="36" name="card-1"/>
          <p:cNvSpPr/>
          <p:nvPr/>
        </p:nvSpPr>
        <p:spPr>
          <a:xfrm>
            <a:off x="457200" y="5760720"/>
            <a:ext cx="2093976" cy="2286000"/>
          </a:xfrm>
          <a:prstGeom prst="roundRect">
            <a:avLst>
              <a:gd name="adj" fmla="val 524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C1B27">
                <a:alpha val="10000"/>
              </a:srgbClr>
            </a:outerShdw>
          </a:effectLst>
        </p:spPr>
      </p:sp>
      <p:pic>
        <p:nvPicPr>
          <p:cNvPr id="37" name="card-img-1" descr="여의도에서 반포까지 경유지 1곳을 거쳐 계산된 자전거 코스 지도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852160"/>
            <a:ext cx="1911096" cy="1097280"/>
          </a:xfrm>
          <a:prstGeom prst="rect">
            <a:avLst/>
          </a:prstGeom>
        </p:spPr>
      </p:pic>
      <p:sp>
        <p:nvSpPr>
          <p:cNvPr id="38" name="card-chip-1"/>
          <p:cNvSpPr/>
          <p:nvPr/>
        </p:nvSpPr>
        <p:spPr>
          <a:xfrm>
            <a:off x="1143000" y="6711696"/>
            <a:ext cx="1243584" cy="182880"/>
          </a:xfrm>
          <a:prstGeom prst="roundRect">
            <a:avLst>
              <a:gd name="adj" fmla="val 50000"/>
            </a:avLst>
          </a:prstGeom>
          <a:solidFill>
            <a:schemeClr val="tx1">
              <a:alpha val="85000"/>
            </a:schemeClr>
          </a:solidFill>
          <a:ln/>
        </p:spPr>
      </p:sp>
      <p:sp>
        <p:nvSpPr>
          <p:cNvPr id="39" name="card-chip-text-1"/>
          <p:cNvSpPr txBox="1"/>
          <p:nvPr/>
        </p:nvSpPr>
        <p:spPr>
          <a:xfrm>
            <a:off x="1143000" y="6711696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7km · 상승 49m · 23분</a:t>
            </a:r>
            <a:endParaRPr lang="en-US" sz="700" dirty="0"/>
          </a:p>
        </p:txBody>
      </p:sp>
      <p:sp>
        <p:nvSpPr>
          <p:cNvPr id="40" name="osm-credit-bg"/>
          <p:cNvSpPr/>
          <p:nvPr/>
        </p:nvSpPr>
        <p:spPr>
          <a:xfrm>
            <a:off x="1271016" y="5852160"/>
            <a:ext cx="1188720" cy="118872"/>
          </a:xfrm>
          <a:prstGeom prst="rect">
            <a:avLst/>
          </a:prstGeom>
          <a:solidFill>
            <a:schemeClr val="bg1">
              <a:alpha val="75000"/>
            </a:schemeClr>
          </a:solidFill>
          <a:ln/>
        </p:spPr>
      </p:sp>
      <p:sp>
        <p:nvSpPr>
          <p:cNvPr id="41" name="osm-credit"/>
          <p:cNvSpPr txBox="1"/>
          <p:nvPr/>
        </p:nvSpPr>
        <p:spPr>
          <a:xfrm>
            <a:off x="1271016" y="5852160"/>
            <a:ext cx="1152144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OpenStreetMap contributors</a:t>
            </a:r>
            <a:endParaRPr lang="en-US" sz="550" dirty="0"/>
          </a:p>
        </p:txBody>
      </p:sp>
      <p:sp>
        <p:nvSpPr>
          <p:cNvPr id="42" name="card-title-1"/>
          <p:cNvSpPr txBox="1"/>
          <p:nvPr/>
        </p:nvSpPr>
        <p:spPr>
          <a:xfrm>
            <a:off x="603504" y="7040880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</a:t>
            </a:r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코스 만들기</a:t>
            </a:r>
            <a:endParaRPr lang="en-US" sz="1250" dirty="0"/>
          </a:p>
        </p:txBody>
      </p:sp>
      <p:sp>
        <p:nvSpPr>
          <p:cNvPr id="43" name="card-points-1"/>
          <p:cNvSpPr txBox="1"/>
          <p:nvPr/>
        </p:nvSpPr>
        <p:spPr>
          <a:xfrm>
            <a:off x="603504" y="7370064"/>
            <a:ext cx="18196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지도에서 출발·경유·도착 지정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자전거도로 우선 경로 계산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거리·상승고도·시간·노면 분석</a:t>
            </a:r>
            <a:endParaRPr lang="en-US" sz="900" dirty="0"/>
          </a:p>
        </p:txBody>
      </p:sp>
      <p:sp>
        <p:nvSpPr>
          <p:cNvPr id="44" name="card-2"/>
          <p:cNvSpPr/>
          <p:nvPr/>
        </p:nvSpPr>
        <p:spPr>
          <a:xfrm>
            <a:off x="2734056" y="5760720"/>
            <a:ext cx="2093976" cy="2286000"/>
          </a:xfrm>
          <a:prstGeom prst="roundRect">
            <a:avLst>
              <a:gd name="adj" fmla="val 524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C1B27">
                <a:alpha val="10000"/>
              </a:srgbClr>
            </a:outerShdw>
          </a:effectLst>
        </p:spPr>
      </p:sp>
      <p:pic>
        <p:nvPicPr>
          <p:cNvPr id="45" name="card-img-2" descr="파티 대기방에서 멤버들이 출발 시간을 맞추는 채팅 화면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5496" y="5852160"/>
            <a:ext cx="1911096" cy="1097280"/>
          </a:xfrm>
          <a:prstGeom prst="rect">
            <a:avLst/>
          </a:prstGeom>
        </p:spPr>
      </p:pic>
      <p:sp>
        <p:nvSpPr>
          <p:cNvPr id="46" name="card-chip-2"/>
          <p:cNvSpPr/>
          <p:nvPr/>
        </p:nvSpPr>
        <p:spPr>
          <a:xfrm>
            <a:off x="3931920" y="6711696"/>
            <a:ext cx="731520" cy="182880"/>
          </a:xfrm>
          <a:prstGeom prst="roundRect">
            <a:avLst>
              <a:gd name="adj" fmla="val 50000"/>
            </a:avLst>
          </a:prstGeom>
          <a:solidFill>
            <a:schemeClr val="tx1">
              <a:alpha val="85000"/>
            </a:schemeClr>
          </a:solidFill>
          <a:ln/>
        </p:spPr>
      </p:sp>
      <p:sp>
        <p:nvSpPr>
          <p:cNvPr id="47" name="card-chip-text-2"/>
          <p:cNvSpPr txBox="1"/>
          <p:nvPr/>
        </p:nvSpPr>
        <p:spPr>
          <a:xfrm>
            <a:off x="3931920" y="67116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대기방 채팅</a:t>
            </a:r>
            <a:endParaRPr lang="en-US" sz="700" dirty="0"/>
          </a:p>
        </p:txBody>
      </p:sp>
      <p:sp>
        <p:nvSpPr>
          <p:cNvPr id="48" name="card-title-2"/>
          <p:cNvSpPr txBox="1"/>
          <p:nvPr/>
        </p:nvSpPr>
        <p:spPr>
          <a:xfrm>
            <a:off x="2880360" y="7040880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</a:t>
            </a:r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달리기</a:t>
            </a:r>
            <a:endParaRPr lang="en-US" sz="1250" dirty="0"/>
          </a:p>
        </p:txBody>
      </p:sp>
      <p:sp>
        <p:nvSpPr>
          <p:cNvPr id="49" name="card-points-2"/>
          <p:cNvSpPr txBox="1"/>
          <p:nvPr/>
        </p:nvSpPr>
        <p:spPr>
          <a:xfrm>
            <a:off x="2880360" y="7370064"/>
            <a:ext cx="18196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220m 근처 라이더 즉석 매칭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파티 모집 → 승인 → 동시 출발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위치·채팅·크루 라이딩</a:t>
            </a:r>
            <a:endParaRPr lang="en-US" sz="900" dirty="0"/>
          </a:p>
        </p:txBody>
      </p:sp>
      <p:sp>
        <p:nvSpPr>
          <p:cNvPr id="50" name="card-3"/>
          <p:cNvSpPr/>
          <p:nvPr/>
        </p:nvSpPr>
        <p:spPr>
          <a:xfrm>
            <a:off x="5010912" y="5760720"/>
            <a:ext cx="2093976" cy="2286000"/>
          </a:xfrm>
          <a:prstGeom prst="roundRect">
            <a:avLst>
              <a:gd name="adj" fmla="val 524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C1B27">
                <a:alpha val="10000"/>
              </a:srgbClr>
            </a:outerShdw>
          </a:effectLst>
        </p:spPr>
      </p:sp>
      <p:pic>
        <p:nvPicPr>
          <p:cNvPr id="51" name="card-img-3" descr="라이딩 횟수 6회, 총 거리 89.9km, 총 상승고도 141m 통계와 라이더 역량 그래프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02352" y="5852160"/>
            <a:ext cx="1911096" cy="1097280"/>
          </a:xfrm>
          <a:prstGeom prst="rect">
            <a:avLst/>
          </a:prstGeom>
        </p:spPr>
      </p:pic>
      <p:sp>
        <p:nvSpPr>
          <p:cNvPr id="52" name="card-chip-3"/>
          <p:cNvSpPr/>
          <p:nvPr/>
        </p:nvSpPr>
        <p:spPr>
          <a:xfrm>
            <a:off x="5696712" y="6711696"/>
            <a:ext cx="1243584" cy="182880"/>
          </a:xfrm>
          <a:prstGeom prst="roundRect">
            <a:avLst>
              <a:gd name="adj" fmla="val 50000"/>
            </a:avLst>
          </a:prstGeom>
          <a:solidFill>
            <a:schemeClr val="tx1">
              <a:alpha val="85000"/>
            </a:schemeClr>
          </a:solidFill>
          <a:ln/>
        </p:spPr>
      </p:sp>
      <p:sp>
        <p:nvSpPr>
          <p:cNvPr id="53" name="card-chip-text-3"/>
          <p:cNvSpPr txBox="1"/>
          <p:nvPr/>
        </p:nvSpPr>
        <p:spPr>
          <a:xfrm>
            <a:off x="5696712" y="6711696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통계 · 역량 그래프</a:t>
            </a:r>
            <a:endParaRPr lang="en-US" sz="700" dirty="0"/>
          </a:p>
        </p:txBody>
      </p:sp>
      <p:sp>
        <p:nvSpPr>
          <p:cNvPr id="54" name="card-title-3"/>
          <p:cNvSpPr txBox="1"/>
          <p:nvPr/>
        </p:nvSpPr>
        <p:spPr>
          <a:xfrm>
            <a:off x="5157216" y="7040880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</a:t>
            </a:r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기록·공유</a:t>
            </a:r>
            <a:endParaRPr lang="en-US" sz="1250" dirty="0"/>
          </a:p>
        </p:txBody>
      </p:sp>
      <p:sp>
        <p:nvSpPr>
          <p:cNvPr id="55" name="card-points-3"/>
          <p:cNvSpPr txBox="1"/>
          <p:nvPr/>
        </p:nvSpPr>
        <p:spPr>
          <a:xfrm>
            <a:off x="5157216" y="7370064"/>
            <a:ext cx="18196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라이딩 기록·누적 통계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km당 상승고도·역량 그래프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코스 피드 공유·좋아요</a:t>
            </a:r>
            <a:endParaRPr lang="en-US" sz="900" dirty="0"/>
          </a:p>
        </p:txBody>
      </p:sp>
      <p:sp>
        <p:nvSpPr>
          <p:cNvPr id="56" name="stats-band"/>
          <p:cNvSpPr/>
          <p:nvPr/>
        </p:nvSpPr>
        <p:spPr>
          <a:xfrm>
            <a:off x="457200" y="8211312"/>
            <a:ext cx="6647688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57" name="stat-num-1"/>
          <p:cNvSpPr txBox="1"/>
          <p:nvPr/>
        </p:nvSpPr>
        <p:spPr>
          <a:xfrm>
            <a:off x="457200" y="8302752"/>
            <a:ext cx="1661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2,673</a:t>
            </a:r>
            <a:endParaRPr lang="en-US" sz="1900" dirty="0"/>
          </a:p>
        </p:txBody>
      </p:sp>
      <p:sp>
        <p:nvSpPr>
          <p:cNvPr id="58" name="stat-label-1"/>
          <p:cNvSpPr txBox="1"/>
          <p:nvPr/>
        </p:nvSpPr>
        <p:spPr>
          <a:xfrm>
            <a:off x="457200" y="8631936"/>
            <a:ext cx="16619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자전거도로 구간</a:t>
            </a:r>
            <a:endParaRPr lang="en-US" sz="850" dirty="0"/>
          </a:p>
        </p:txBody>
      </p:sp>
      <p:sp>
        <p:nvSpPr>
          <p:cNvPr id="59" name="stat-num-2"/>
          <p:cNvSpPr txBox="1"/>
          <p:nvPr/>
        </p:nvSpPr>
        <p:spPr>
          <a:xfrm>
            <a:off x="2119122" y="8302752"/>
            <a:ext cx="1661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100곳</a:t>
            </a:r>
            <a:endParaRPr lang="en-US" sz="1900" dirty="0"/>
          </a:p>
        </p:txBody>
      </p:sp>
      <p:sp>
        <p:nvSpPr>
          <p:cNvPr id="60" name="stat-label-2"/>
          <p:cNvSpPr txBox="1"/>
          <p:nvPr/>
        </p:nvSpPr>
        <p:spPr>
          <a:xfrm>
            <a:off x="2119122" y="8631936"/>
            <a:ext cx="16619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경유지 최대</a:t>
            </a:r>
            <a:endParaRPr lang="en-US" sz="850" dirty="0"/>
          </a:p>
        </p:txBody>
      </p:sp>
      <p:sp>
        <p:nvSpPr>
          <p:cNvPr id="61" name="stat-div-1"/>
          <p:cNvSpPr/>
          <p:nvPr/>
        </p:nvSpPr>
        <p:spPr>
          <a:xfrm>
            <a:off x="2119122" y="8375904"/>
            <a:ext cx="0" cy="329184"/>
          </a:xfrm>
          <a:prstGeom prst="line">
            <a:avLst/>
          </a:prstGeom>
          <a:noFill/>
          <a:ln w="9525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2" name="stat-num-3"/>
          <p:cNvSpPr txBox="1"/>
          <p:nvPr/>
        </p:nvSpPr>
        <p:spPr>
          <a:xfrm>
            <a:off x="3781044" y="8302752"/>
            <a:ext cx="1661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220m</a:t>
            </a:r>
            <a:endParaRPr lang="en-US" sz="1900" dirty="0"/>
          </a:p>
        </p:txBody>
      </p:sp>
      <p:sp>
        <p:nvSpPr>
          <p:cNvPr id="63" name="stat-label-3"/>
          <p:cNvSpPr txBox="1"/>
          <p:nvPr/>
        </p:nvSpPr>
        <p:spPr>
          <a:xfrm>
            <a:off x="3781044" y="8631936"/>
            <a:ext cx="16619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근처 라이더 매칭 반경</a:t>
            </a:r>
            <a:endParaRPr lang="en-US" sz="850" dirty="0"/>
          </a:p>
        </p:txBody>
      </p:sp>
      <p:sp>
        <p:nvSpPr>
          <p:cNvPr id="64" name="stat-div-2"/>
          <p:cNvSpPr/>
          <p:nvPr/>
        </p:nvSpPr>
        <p:spPr>
          <a:xfrm>
            <a:off x="3781044" y="8375904"/>
            <a:ext cx="0" cy="329184"/>
          </a:xfrm>
          <a:prstGeom prst="line">
            <a:avLst/>
          </a:prstGeom>
          <a:noFill/>
          <a:ln w="9525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5" name="stat-num-4"/>
          <p:cNvSpPr txBox="1"/>
          <p:nvPr/>
        </p:nvSpPr>
        <p:spPr>
          <a:xfrm>
            <a:off x="5442966" y="8302752"/>
            <a:ext cx="1661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25개 구</a:t>
            </a:r>
            <a:endParaRPr lang="en-US" sz="1900" dirty="0"/>
          </a:p>
        </p:txBody>
      </p:sp>
      <p:sp>
        <p:nvSpPr>
          <p:cNvPr id="66" name="stat-label-4"/>
          <p:cNvSpPr txBox="1"/>
          <p:nvPr/>
        </p:nvSpPr>
        <p:spPr>
          <a:xfrm>
            <a:off x="5442966" y="8631936"/>
            <a:ext cx="16619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코스 지역 자동 분류</a:t>
            </a:r>
            <a:endParaRPr lang="en-US" sz="850" dirty="0"/>
          </a:p>
        </p:txBody>
      </p:sp>
      <p:sp>
        <p:nvSpPr>
          <p:cNvPr id="67" name="stat-div-3"/>
          <p:cNvSpPr/>
          <p:nvPr/>
        </p:nvSpPr>
        <p:spPr>
          <a:xfrm>
            <a:off x="5442966" y="8375904"/>
            <a:ext cx="0" cy="329184"/>
          </a:xfrm>
          <a:prstGeom prst="line">
            <a:avLst/>
          </a:prstGeom>
          <a:noFill/>
          <a:ln w="9525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8" name="tech-label"/>
          <p:cNvSpPr txBox="1"/>
          <p:nvPr/>
        </p:nvSpPr>
        <p:spPr>
          <a:xfrm>
            <a:off x="457200" y="90159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950" dirty="0"/>
          </a:p>
        </p:txBody>
      </p:sp>
      <p:sp>
        <p:nvSpPr>
          <p:cNvPr id="69" name="tech-badge-1-1"/>
          <p:cNvSpPr/>
          <p:nvPr/>
        </p:nvSpPr>
        <p:spPr>
          <a:xfrm>
            <a:off x="1243584" y="9015984"/>
            <a:ext cx="1014984" cy="20116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0" name="tech-text-1-1"/>
          <p:cNvSpPr txBox="1"/>
          <p:nvPr/>
        </p:nvSpPr>
        <p:spPr>
          <a:xfrm>
            <a:off x="1243584" y="9015984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19 · Vite</a:t>
            </a:r>
            <a:endParaRPr lang="en-US" sz="800" dirty="0"/>
          </a:p>
        </p:txBody>
      </p:sp>
      <p:sp>
        <p:nvSpPr>
          <p:cNvPr id="71" name="tech-badge-1-2"/>
          <p:cNvSpPr/>
          <p:nvPr/>
        </p:nvSpPr>
        <p:spPr>
          <a:xfrm>
            <a:off x="2331720" y="9015984"/>
            <a:ext cx="590702" cy="20116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2" name="tech-text-1-2"/>
          <p:cNvSpPr txBox="1"/>
          <p:nvPr/>
        </p:nvSpPr>
        <p:spPr>
          <a:xfrm>
            <a:off x="2331720" y="9015984"/>
            <a:ext cx="5907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Leaflet</a:t>
            </a:r>
            <a:endParaRPr lang="en-US" sz="800" dirty="0"/>
          </a:p>
        </p:txBody>
      </p:sp>
      <p:sp>
        <p:nvSpPr>
          <p:cNvPr id="73" name="tech-badge-1-3"/>
          <p:cNvSpPr/>
          <p:nvPr/>
        </p:nvSpPr>
        <p:spPr>
          <a:xfrm>
            <a:off x="2995574" y="9015984"/>
            <a:ext cx="590702" cy="20116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4" name="tech-text-1-3"/>
          <p:cNvSpPr txBox="1"/>
          <p:nvPr/>
        </p:nvSpPr>
        <p:spPr>
          <a:xfrm>
            <a:off x="2995574" y="9015984"/>
            <a:ext cx="5907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BRouter</a:t>
            </a:r>
            <a:endParaRPr lang="en-US" sz="800" dirty="0"/>
          </a:p>
        </p:txBody>
      </p:sp>
      <p:sp>
        <p:nvSpPr>
          <p:cNvPr id="75" name="tech-badge-1-4"/>
          <p:cNvSpPr/>
          <p:nvPr/>
        </p:nvSpPr>
        <p:spPr>
          <a:xfrm>
            <a:off x="3659429" y="9015984"/>
            <a:ext cx="1439266" cy="20116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6" name="tech-text-1-4"/>
          <p:cNvSpPr txBox="1"/>
          <p:nvPr/>
        </p:nvSpPr>
        <p:spPr>
          <a:xfrm>
            <a:off x="3659429" y="9015984"/>
            <a:ext cx="14392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Boot 4 · Java 21</a:t>
            </a:r>
            <a:endParaRPr lang="en-US" sz="800" dirty="0"/>
          </a:p>
        </p:txBody>
      </p:sp>
      <p:sp>
        <p:nvSpPr>
          <p:cNvPr id="77" name="tech-badge-1-5"/>
          <p:cNvSpPr/>
          <p:nvPr/>
        </p:nvSpPr>
        <p:spPr>
          <a:xfrm>
            <a:off x="5171846" y="9015984"/>
            <a:ext cx="1439266" cy="20116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8" name="tech-text-1-5"/>
          <p:cNvSpPr txBox="1"/>
          <p:nvPr/>
        </p:nvSpPr>
        <p:spPr>
          <a:xfrm>
            <a:off x="5171846" y="9015984"/>
            <a:ext cx="14392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JPA · Hibernate Spatial</a:t>
            </a:r>
            <a:endParaRPr lang="en-US" sz="800" dirty="0"/>
          </a:p>
        </p:txBody>
      </p:sp>
      <p:sp>
        <p:nvSpPr>
          <p:cNvPr id="79" name="tech-badge-2-1"/>
          <p:cNvSpPr/>
          <p:nvPr/>
        </p:nvSpPr>
        <p:spPr>
          <a:xfrm>
            <a:off x="1243584" y="9290304"/>
            <a:ext cx="1439266" cy="20116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0" name="tech-text-2-1"/>
          <p:cNvSpPr txBox="1"/>
          <p:nvPr/>
        </p:nvSpPr>
        <p:spPr>
          <a:xfrm>
            <a:off x="1243584" y="9290304"/>
            <a:ext cx="14392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PostgreSQL 18 + PostGIS</a:t>
            </a:r>
            <a:endParaRPr lang="en-US" sz="800" dirty="0"/>
          </a:p>
        </p:txBody>
      </p:sp>
      <p:sp>
        <p:nvSpPr>
          <p:cNvPr id="81" name="tech-badge-2-2"/>
          <p:cNvSpPr/>
          <p:nvPr/>
        </p:nvSpPr>
        <p:spPr>
          <a:xfrm>
            <a:off x="2756002" y="9290304"/>
            <a:ext cx="1121054" cy="20116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2" name="tech-text-2-2"/>
          <p:cNvSpPr txBox="1"/>
          <p:nvPr/>
        </p:nvSpPr>
        <p:spPr>
          <a:xfrm>
            <a:off x="2756002" y="9290304"/>
            <a:ext cx="11210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WebSocket (STOMP)</a:t>
            </a:r>
            <a:endParaRPr lang="en-US" sz="800" dirty="0"/>
          </a:p>
        </p:txBody>
      </p:sp>
      <p:sp>
        <p:nvSpPr>
          <p:cNvPr id="83" name="tech-badge-2-3"/>
          <p:cNvSpPr/>
          <p:nvPr/>
        </p:nvSpPr>
        <p:spPr>
          <a:xfrm>
            <a:off x="3950208" y="9290304"/>
            <a:ext cx="1227125" cy="20116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4" name="tech-text-2-3"/>
          <p:cNvSpPr txBox="1"/>
          <p:nvPr/>
        </p:nvSpPr>
        <p:spPr>
          <a:xfrm>
            <a:off x="3950208" y="9290304"/>
            <a:ext cx="12271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Rocky Linux · Nginx</a:t>
            </a:r>
            <a:endParaRPr lang="en-US" sz="800" dirty="0"/>
          </a:p>
        </p:txBody>
      </p:sp>
      <p:sp>
        <p:nvSpPr>
          <p:cNvPr id="85" name="tech-badge-2-4"/>
          <p:cNvSpPr/>
          <p:nvPr/>
        </p:nvSpPr>
        <p:spPr>
          <a:xfrm>
            <a:off x="5250485" y="9290304"/>
            <a:ext cx="1121054" cy="20116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6" name="tech-text-2-4"/>
          <p:cNvSpPr txBox="1"/>
          <p:nvPr/>
        </p:nvSpPr>
        <p:spPr>
          <a:xfrm>
            <a:off x="5250485" y="9290304"/>
            <a:ext cx="11210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Cloudflare Tunnel</a:t>
            </a:r>
            <a:endParaRPr lang="en-US" sz="800" dirty="0"/>
          </a:p>
        </p:txBody>
      </p:sp>
      <p:sp>
        <p:nvSpPr>
          <p:cNvPr id="87" name="footer-bg"/>
          <p:cNvSpPr/>
          <p:nvPr/>
        </p:nvSpPr>
        <p:spPr>
          <a:xfrm>
            <a:off x="0" y="9656064"/>
            <a:ext cx="7562088" cy="103327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88" name="team-label"/>
          <p:cNvSpPr txBox="1"/>
          <p:nvPr/>
        </p:nvSpPr>
        <p:spPr>
          <a:xfrm>
            <a:off x="457200" y="97840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TEAM PEDALLINK</a:t>
            </a:r>
            <a:endParaRPr lang="en-US" sz="750" dirty="0"/>
          </a:p>
        </p:txBody>
      </p:sp>
      <p:sp>
        <p:nvSpPr>
          <p:cNvPr id="89" name="team-name-1"/>
          <p:cNvSpPr txBox="1"/>
          <p:nvPr/>
        </p:nvSpPr>
        <p:spPr>
          <a:xfrm>
            <a:off x="457200" y="99669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김호성 </a:t>
            </a:r>
            <a:pPr indent="0" marL="0">
              <a:buNone/>
            </a:pPr>
            <a:r>
              <a:rPr lang="en-US" sz="750" b="1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조장</a:t>
            </a:r>
            <a:endParaRPr lang="en-US" sz="1050" dirty="0"/>
          </a:p>
        </p:txBody>
      </p:sp>
      <p:sp>
        <p:nvSpPr>
          <p:cNvPr id="90" name="team-role-1"/>
          <p:cNvSpPr txBox="1"/>
          <p:nvPr/>
        </p:nvSpPr>
        <p:spPr>
          <a:xfrm>
            <a:off x="457200" y="1019556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지도·경로 탐색 · 파티 · 위치공유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지오펜싱 · 라이딩 기록·통계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 · 서버 배포</a:t>
            </a:r>
            <a:endParaRPr lang="en-US" sz="700" dirty="0"/>
          </a:p>
        </p:txBody>
      </p:sp>
      <p:sp>
        <p:nvSpPr>
          <p:cNvPr id="91" name="team-name-2"/>
          <p:cNvSpPr txBox="1"/>
          <p:nvPr/>
        </p:nvSpPr>
        <p:spPr>
          <a:xfrm>
            <a:off x="1965960" y="99669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신재원</a:t>
            </a:r>
            <a:endParaRPr lang="en-US" sz="1050" dirty="0"/>
          </a:p>
        </p:txBody>
      </p:sp>
      <p:sp>
        <p:nvSpPr>
          <p:cNvPr id="92" name="team-role-2"/>
          <p:cNvSpPr txBox="1"/>
          <p:nvPr/>
        </p:nvSpPr>
        <p:spPr>
          <a:xfrm>
            <a:off x="1965960" y="1019556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· 파티룸·라이딩룸 · 크루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라이딩 매칭 · 프로필</a:t>
            </a:r>
            <a:endParaRPr lang="en-US" sz="700" dirty="0"/>
          </a:p>
        </p:txBody>
      </p:sp>
      <p:sp>
        <p:nvSpPr>
          <p:cNvPr id="93" name="team-name-3"/>
          <p:cNvSpPr txBox="1"/>
          <p:nvPr/>
        </p:nvSpPr>
        <p:spPr>
          <a:xfrm>
            <a:off x="3474720" y="99669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임연수</a:t>
            </a:r>
            <a:endParaRPr lang="en-US" sz="1050" dirty="0"/>
          </a:p>
        </p:txBody>
      </p:sp>
      <p:sp>
        <p:nvSpPr>
          <p:cNvPr id="94" name="team-role-3"/>
          <p:cNvSpPr txBox="1"/>
          <p:nvPr/>
        </p:nvSpPr>
        <p:spPr>
          <a:xfrm>
            <a:off x="3474720" y="1019556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디자인 · 홈 화면 · Vite 전환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chemeClr val="accent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플로팅 메뉴</a:t>
            </a:r>
            <a:endParaRPr lang="en-US" sz="700" dirty="0"/>
          </a:p>
        </p:txBody>
      </p:sp>
      <p:sp>
        <p:nvSpPr>
          <p:cNvPr id="95" name="period-label"/>
          <p:cNvSpPr txBox="1"/>
          <p:nvPr/>
        </p:nvSpPr>
        <p:spPr>
          <a:xfrm>
            <a:off x="4983480" y="9784080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개발기간</a:t>
            </a:r>
            <a:endParaRPr lang="en-US" sz="750" dirty="0"/>
          </a:p>
        </p:txBody>
      </p:sp>
      <p:sp>
        <p:nvSpPr>
          <p:cNvPr id="96" name="period"/>
          <p:cNvSpPr txBox="1"/>
          <p:nvPr/>
        </p:nvSpPr>
        <p:spPr>
          <a:xfrm>
            <a:off x="4983480" y="9948672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07 ~ 2026. 11</a:t>
            </a:r>
            <a:endParaRPr lang="en-US" sz="1050" dirty="0"/>
          </a:p>
        </p:txBody>
      </p:sp>
      <p:pic>
        <p:nvPicPr>
          <p:cNvPr id="97" name="github-icon" descr="C:\Users\kimHosung\AppData\Local\Temp\claude\c--Users-kimHosung-projects\94f6d5d6-3c0b-4493-a2fe-c44580cd7572\scratchpad\pamphlet\assets\ic_github_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10218420"/>
            <a:ext cx="118872" cy="118872"/>
          </a:xfrm>
          <a:prstGeom prst="rect">
            <a:avLst/>
          </a:prstGeom>
        </p:spPr>
      </p:pic>
      <p:sp>
        <p:nvSpPr>
          <p:cNvPr id="98" name="github-label"/>
          <p:cNvSpPr txBox="1"/>
          <p:nvPr/>
        </p:nvSpPr>
        <p:spPr>
          <a:xfrm>
            <a:off x="5148072" y="10204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</a:t>
            </a:r>
            <a:endParaRPr lang="en-US" sz="750" dirty="0"/>
          </a:p>
        </p:txBody>
      </p:sp>
      <p:sp>
        <p:nvSpPr>
          <p:cNvPr id="99" name="github-url">
            <a:hlinkClick r:id="rId11" tooltip=""/>
          </p:cNvPr>
          <p:cNvSpPr txBox="1"/>
          <p:nvPr/>
        </p:nvSpPr>
        <p:spPr>
          <a:xfrm>
            <a:off x="4983480" y="10369296"/>
            <a:ext cx="21214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u="sng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github.com/hosung5287-creator/Pedal_link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-hero-bg" descr="image.png"/>
          <p:cNvPicPr>
            <a:picLocks noChangeAspect="1"/>
          </p:cNvPicPr>
          <p:nvPr/>
        </p:nvPicPr>
        <p:blipFill>
          <a:blip r:embed="rId2"/>
          <a:srcRect b="71193"/>
          <a:stretch>
            <a:fillRect/>
          </a:stretch>
        </p:blipFill>
        <p:spPr>
          <a:xfrm>
            <a:off x="0" y="0"/>
            <a:ext cx="7562088" cy="1080000"/>
          </a:xfrm>
          <a:prstGeom prst="rect">
            <a:avLst/>
          </a:prstGeom>
        </p:spPr>
      </p:pic>
      <p:pic>
        <p:nvPicPr>
          <p:cNvPr id="3" name="back-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6400"/>
            <a:ext cx="402336" cy="274320"/>
          </a:xfrm>
          <a:prstGeom prst="rect">
            <a:avLst/>
          </a:prstGeom>
        </p:spPr>
      </p:pic>
      <p:sp>
        <p:nvSpPr>
          <p:cNvPr id="4" name="back-brand"/>
          <p:cNvSpPr txBox="1"/>
          <p:nvPr/>
        </p:nvSpPr>
        <p:spPr>
          <a:xfrm>
            <a:off x="950400" y="237600"/>
            <a:ext cx="1828800" cy="32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PedalLink</a:t>
            </a:r>
          </a:p>
        </p:txBody>
      </p:sp>
      <p:sp>
        <p:nvSpPr>
          <p:cNvPr id="5" name="back-headline"/>
          <p:cNvSpPr txBox="1"/>
          <p:nvPr/>
        </p:nvSpPr>
        <p:spPr>
          <a:xfrm>
            <a:off x="457200" y="619200"/>
            <a:ext cx="3960000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이렇게 </a:t>
            </a:r>
            <a:r>
              <a:rPr sz="2000" b="1">
                <a:solidFill>
                  <a:srgbClr val="FFCC4D"/>
                </a:solidFill>
                <a:latin typeface="맑은 고딕"/>
                <a:ea typeface="맑은 고딕"/>
                <a:cs typeface="맑은 고딕"/>
              </a:rPr>
              <a:t>설계</a:t>
            </a: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했어요</a:t>
            </a:r>
          </a:p>
        </p:txBody>
      </p:sp>
      <p:sp>
        <p:nvSpPr>
          <p:cNvPr id="6" name="back-eyebrow"/>
          <p:cNvSpPr txBox="1"/>
          <p:nvPr/>
        </p:nvSpPr>
        <p:spPr>
          <a:xfrm>
            <a:off x="3600000" y="730800"/>
            <a:ext cx="3506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50" b="1">
                <a:solidFill>
                  <a:srgbClr val="DCEFFB"/>
                </a:solidFill>
                <a:latin typeface="맑은 고딕"/>
                <a:ea typeface="맑은 고딕"/>
                <a:cs typeface="맑은 고딕"/>
              </a:rPr>
              <a:t>시스템 구성 · 라이딩 흐름 · 데이터 구조 · 설계 포인트</a:t>
            </a:r>
          </a:p>
        </p:txBody>
      </p:sp>
      <p:sp>
        <p:nvSpPr>
          <p:cNvPr id="7" name="back-sec1-title"/>
          <p:cNvSpPr txBox="1"/>
          <p:nvPr/>
        </p:nvSpPr>
        <p:spPr>
          <a:xfrm>
            <a:off x="457200" y="1278000"/>
            <a:ext cx="6649200" cy="273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0C1B27"/>
                </a:solidFill>
                <a:latin typeface="맑은 고딕"/>
                <a:ea typeface="맑은 고딕"/>
                <a:cs typeface="맑은 고딕"/>
              </a:rPr>
              <a:t>시스템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35600"/>
            <a:ext cx="66492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5B7180"/>
                </a:solidFill>
                <a:latin typeface="맑은 고딕"/>
                <a:ea typeface="맑은 고딕"/>
                <a:cs typeface="맑은 고딕"/>
              </a:rPr>
              <a:t>브라우저부터 데이터베이스까지, 요청이 지나가는 길</a:t>
            </a:r>
          </a:p>
        </p:txBody>
      </p:sp>
      <p:sp>
        <p:nvSpPr>
          <p:cNvPr id="9" name="back-card-arch"/>
          <p:cNvSpPr/>
          <p:nvPr/>
        </p:nvSpPr>
        <p:spPr>
          <a:xfrm>
            <a:off x="457200" y="1584000"/>
            <a:ext cx="6649200" cy="2880000"/>
          </a:xfrm>
          <a:prstGeom prst="roundRect">
            <a:avLst>
              <a:gd name="adj" fmla="val 3144"/>
            </a:avLst>
          </a:prstGeom>
          <a:solidFill>
            <a:srgbClr val="FFFFFF"/>
          </a:solidFill>
          <a:ln w="9525">
            <a:solidFill>
              <a:srgbClr val="E5EEF3"/>
            </a:solidFill>
          </a:ln>
          <a:effectLst>
            <a:outerShdw blurRad="101600" dist="25400" dir="5400000" algn="bl" rotWithShape="0">
              <a:srgbClr val="0C1B27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0" name="back-img-arch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00" y="1674000"/>
            <a:ext cx="6469200" cy="2700000"/>
          </a:xfrm>
          <a:prstGeom prst="rect">
            <a:avLst/>
          </a:prstGeom>
        </p:spPr>
      </p:pic>
      <p:sp>
        <p:nvSpPr>
          <p:cNvPr id="11" name="back-sec2-title"/>
          <p:cNvSpPr txBox="1"/>
          <p:nvPr/>
        </p:nvSpPr>
        <p:spPr>
          <a:xfrm>
            <a:off x="457200" y="4662000"/>
            <a:ext cx="6649200" cy="273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0C1B27"/>
                </a:solidFill>
                <a:latin typeface="맑은 고딕"/>
                <a:ea typeface="맑은 고딕"/>
                <a:cs typeface="맑은 고딕"/>
              </a:rPr>
              <a:t>라이딩 흐름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19600"/>
            <a:ext cx="66492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5B7180"/>
                </a:solidFill>
                <a:latin typeface="맑은 고딕"/>
                <a:ea typeface="맑은 고딕"/>
                <a:cs typeface="맑은 고딕"/>
              </a:rPr>
              <a:t>아래 칸은 각 단계의 데이터가 저장되는 곳</a:t>
            </a:r>
          </a:p>
        </p:txBody>
      </p:sp>
      <p:sp>
        <p:nvSpPr>
          <p:cNvPr id="13" name="back-card-flow"/>
          <p:cNvSpPr/>
          <p:nvPr/>
        </p:nvSpPr>
        <p:spPr>
          <a:xfrm>
            <a:off x="457200" y="4968000"/>
            <a:ext cx="6649200" cy="1440000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9525">
            <a:solidFill>
              <a:srgbClr val="E5EEF3"/>
            </a:solidFill>
          </a:ln>
          <a:effectLst>
            <a:outerShdw blurRad="101600" dist="25400" dir="5400000" algn="bl" rotWithShape="0">
              <a:srgbClr val="0C1B27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4" name="back-img-flow" descr="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200" y="5058000"/>
            <a:ext cx="6469200" cy="1260000"/>
          </a:xfrm>
          <a:prstGeom prst="rect">
            <a:avLst/>
          </a:prstGeom>
        </p:spPr>
      </p:pic>
      <p:sp>
        <p:nvSpPr>
          <p:cNvPr id="15" name="back-sec3-title"/>
          <p:cNvSpPr txBox="1"/>
          <p:nvPr/>
        </p:nvSpPr>
        <p:spPr>
          <a:xfrm>
            <a:off x="457200" y="6606000"/>
            <a:ext cx="4273200" cy="273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0C1B27"/>
                </a:solidFill>
                <a:latin typeface="맑은 고딕"/>
                <a:ea typeface="맑은 고딕"/>
                <a:cs typeface="맑은 고딕"/>
              </a:rPr>
              <a:t>데이터 구조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663600"/>
            <a:ext cx="42732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5B7180"/>
                </a:solidFill>
                <a:latin typeface="맑은 고딕"/>
                <a:ea typeface="맑은 고딕"/>
                <a:cs typeface="맑은 고딕"/>
              </a:rPr>
              <a:t>테이블 18개 · PostgreSQL + PostGIS</a:t>
            </a:r>
          </a:p>
        </p:txBody>
      </p:sp>
      <p:sp>
        <p:nvSpPr>
          <p:cNvPr id="17" name="back-card-data"/>
          <p:cNvSpPr/>
          <p:nvPr/>
        </p:nvSpPr>
        <p:spPr>
          <a:xfrm>
            <a:off x="457200" y="6912000"/>
            <a:ext cx="4273200" cy="2844000"/>
          </a:xfrm>
          <a:prstGeom prst="roundRect">
            <a:avLst>
              <a:gd name="adj" fmla="val 3144"/>
            </a:avLst>
          </a:prstGeom>
          <a:solidFill>
            <a:srgbClr val="FFFFFF"/>
          </a:solidFill>
          <a:ln w="9525">
            <a:solidFill>
              <a:srgbClr val="E5EEF3"/>
            </a:solidFill>
          </a:ln>
          <a:effectLst>
            <a:outerShdw blurRad="101600" dist="25400" dir="5400000" algn="bl" rotWithShape="0">
              <a:srgbClr val="0C1B27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8" name="back-img-data" descr="da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200" y="7002000"/>
            <a:ext cx="4093200" cy="2664000"/>
          </a:xfrm>
          <a:prstGeom prst="rect">
            <a:avLst/>
          </a:prstGeom>
        </p:spPr>
      </p:pic>
      <p:sp>
        <p:nvSpPr>
          <p:cNvPr id="19" name="back-sec4-title"/>
          <p:cNvSpPr txBox="1"/>
          <p:nvPr/>
        </p:nvSpPr>
        <p:spPr>
          <a:xfrm>
            <a:off x="4874400" y="6606000"/>
            <a:ext cx="2232000" cy="273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>
                <a:solidFill>
                  <a:srgbClr val="0C1B27"/>
                </a:solidFill>
                <a:latin typeface="맑은 고딕"/>
                <a:ea typeface="맑은 고딕"/>
                <a:cs typeface="맑은 고딕"/>
              </a:rPr>
              <a:t>설계 포인트</a:t>
            </a:r>
          </a:p>
        </p:txBody>
      </p:sp>
      <p:sp>
        <p:nvSpPr>
          <p:cNvPr id="20" name="back-point-1"/>
          <p:cNvSpPr/>
          <p:nvPr/>
        </p:nvSpPr>
        <p:spPr>
          <a:xfrm>
            <a:off x="4874400" y="6912000"/>
            <a:ext cx="2232000" cy="657000"/>
          </a:xfrm>
          <a:prstGeom prst="roundRect">
            <a:avLst>
              <a:gd name="adj" fmla="val 12000"/>
            </a:avLst>
          </a:prstGeom>
          <a:solidFill>
            <a:srgbClr val="F4F9FC"/>
          </a:solidFill>
          <a:ln w="9525">
            <a:solidFill>
              <a:srgbClr val="E5EE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back-point-badge-1"/>
          <p:cNvSpPr/>
          <p:nvPr/>
        </p:nvSpPr>
        <p:spPr>
          <a:xfrm>
            <a:off x="4982400" y="7020000"/>
            <a:ext cx="230400" cy="2304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22" name="back-point-title-1"/>
          <p:cNvSpPr txBox="1"/>
          <p:nvPr/>
        </p:nvSpPr>
        <p:spPr>
          <a:xfrm>
            <a:off x="5292000" y="7034400"/>
            <a:ext cx="172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>
                <a:solidFill>
                  <a:srgbClr val="0C1B27"/>
                </a:solidFill>
                <a:latin typeface="맑은 고딕"/>
                <a:ea typeface="맑은 고딕"/>
                <a:cs typeface="맑은 고딕"/>
              </a:rPr>
              <a:t>실시간 위치는 메모리에</a:t>
            </a:r>
          </a:p>
        </p:txBody>
      </p:sp>
      <p:sp>
        <p:nvSpPr>
          <p:cNvPr id="23" name="back-point-body-1"/>
          <p:cNvSpPr txBox="1"/>
          <p:nvPr/>
        </p:nvSpPr>
        <p:spPr>
          <a:xfrm>
            <a:off x="4982400" y="7286400"/>
            <a:ext cx="2016000" cy="26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5B7180"/>
                </a:solidFill>
                <a:latin typeface="맑은 고딕"/>
                <a:ea typeface="맑은 고딕"/>
                <a:cs typeface="맑은 고딕"/>
              </a:rPr>
              <a:t>3초마다 오는 위치는 DB 대신 서버 메모리에</a:t>
            </a:r>
          </a:p>
          <a:p>
            <a:pPr algn="l">
              <a:lnSpc>
                <a:spcPct val="100000"/>
              </a:lnSpc>
            </a:pPr>
            <a:r>
              <a:rPr sz="720" b="0">
                <a:solidFill>
                  <a:srgbClr val="5B7180"/>
                </a:solidFill>
                <a:latin typeface="맑은 고딕"/>
                <a:ea typeface="맑은 고딕"/>
                <a:cs typeface="맑은 고딕"/>
              </a:rPr>
              <a:t>15초만 두고, 공유를 끄면 바로 지웁니다.</a:t>
            </a:r>
          </a:p>
        </p:txBody>
      </p:sp>
      <p:sp>
        <p:nvSpPr>
          <p:cNvPr id="24" name="back-point-2"/>
          <p:cNvSpPr/>
          <p:nvPr/>
        </p:nvSpPr>
        <p:spPr>
          <a:xfrm>
            <a:off x="4874400" y="7641000"/>
            <a:ext cx="2232000" cy="657000"/>
          </a:xfrm>
          <a:prstGeom prst="roundRect">
            <a:avLst>
              <a:gd name="adj" fmla="val 12000"/>
            </a:avLst>
          </a:prstGeom>
          <a:solidFill>
            <a:srgbClr val="F4F9FC"/>
          </a:solidFill>
          <a:ln w="9525">
            <a:solidFill>
              <a:srgbClr val="E5EE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back-point-badge-2"/>
          <p:cNvSpPr/>
          <p:nvPr/>
        </p:nvSpPr>
        <p:spPr>
          <a:xfrm>
            <a:off x="4982400" y="7749000"/>
            <a:ext cx="230400" cy="2304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26" name="back-point-title-2"/>
          <p:cNvSpPr txBox="1"/>
          <p:nvPr/>
        </p:nvSpPr>
        <p:spPr>
          <a:xfrm>
            <a:off x="5292000" y="7763400"/>
            <a:ext cx="172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>
                <a:solidFill>
                  <a:srgbClr val="0C1B27"/>
                </a:solidFill>
                <a:latin typeface="맑은 고딕"/>
                <a:ea typeface="맑은 고딕"/>
                <a:cs typeface="맑은 고딕"/>
              </a:rPr>
              <a:t>거리 계산은 PostGIS로</a:t>
            </a:r>
          </a:p>
        </p:txBody>
      </p:sp>
      <p:sp>
        <p:nvSpPr>
          <p:cNvPr id="27" name="back-point-body-2"/>
          <p:cNvSpPr txBox="1"/>
          <p:nvPr/>
        </p:nvSpPr>
        <p:spPr>
          <a:xfrm>
            <a:off x="4982400" y="8015400"/>
            <a:ext cx="2016000" cy="26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5B7180"/>
                </a:solidFill>
                <a:latin typeface="맑은 고딕"/>
                <a:ea typeface="맑은 고딕"/>
                <a:cs typeface="맑은 고딕"/>
              </a:rPr>
              <a:t>서울 구 경계로 코스 지역을 정하고,</a:t>
            </a:r>
          </a:p>
          <a:p>
            <a:pPr algn="l">
              <a:lnSpc>
                <a:spcPct val="100000"/>
              </a:lnSpc>
            </a:pPr>
            <a:r>
              <a:rPr sz="720" b="0">
                <a:solidFill>
                  <a:srgbClr val="5B7180"/>
                </a:solidFill>
                <a:latin typeface="맑은 고딕"/>
                <a:ea typeface="맑은 고딕"/>
                <a:cs typeface="맑은 고딕"/>
              </a:rPr>
              <a:t>220m 안 라이더만 매칭·인원 체크합니다.</a:t>
            </a:r>
          </a:p>
        </p:txBody>
      </p:sp>
      <p:sp>
        <p:nvSpPr>
          <p:cNvPr id="28" name="back-point-3"/>
          <p:cNvSpPr/>
          <p:nvPr/>
        </p:nvSpPr>
        <p:spPr>
          <a:xfrm>
            <a:off x="4874400" y="8370000"/>
            <a:ext cx="2232000" cy="657000"/>
          </a:xfrm>
          <a:prstGeom prst="roundRect">
            <a:avLst>
              <a:gd name="adj" fmla="val 12000"/>
            </a:avLst>
          </a:prstGeom>
          <a:solidFill>
            <a:srgbClr val="F4F9FC"/>
          </a:solidFill>
          <a:ln w="9525">
            <a:solidFill>
              <a:srgbClr val="E5EE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back-point-badge-3"/>
          <p:cNvSpPr/>
          <p:nvPr/>
        </p:nvSpPr>
        <p:spPr>
          <a:xfrm>
            <a:off x="4982400" y="8478000"/>
            <a:ext cx="230400" cy="2304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0" name="back-point-title-3"/>
          <p:cNvSpPr txBox="1"/>
          <p:nvPr/>
        </p:nvSpPr>
        <p:spPr>
          <a:xfrm>
            <a:off x="5292000" y="8492400"/>
            <a:ext cx="172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>
                <a:solidFill>
                  <a:srgbClr val="0C1B27"/>
                </a:solidFill>
                <a:latin typeface="맑은 고딕"/>
                <a:ea typeface="맑은 고딕"/>
                <a:cs typeface="맑은 고딕"/>
              </a:rPr>
              <a:t>상승고도는 탄 만큼만</a:t>
            </a:r>
          </a:p>
        </p:txBody>
      </p:sp>
      <p:sp>
        <p:nvSpPr>
          <p:cNvPr id="31" name="back-point-body-3"/>
          <p:cNvSpPr txBox="1"/>
          <p:nvPr/>
        </p:nvSpPr>
        <p:spPr>
          <a:xfrm>
            <a:off x="4982400" y="8744400"/>
            <a:ext cx="2016000" cy="26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5B7180"/>
                </a:solidFill>
                <a:latin typeface="맑은 고딕"/>
                <a:ea typeface="맑은 고딕"/>
                <a:cs typeface="맑은 고딕"/>
              </a:rPr>
              <a:t>코스 상승고도 × (탄 거리 ÷ 코스 거리)만</a:t>
            </a:r>
          </a:p>
          <a:p>
            <a:pPr algn="l">
              <a:lnSpc>
                <a:spcPct val="100000"/>
              </a:lnSpc>
            </a:pPr>
            <a:r>
              <a:rPr sz="720" b="0">
                <a:solidFill>
                  <a:srgbClr val="5B7180"/>
                </a:solidFill>
                <a:latin typeface="맑은 고딕"/>
                <a:ea typeface="맑은 고딕"/>
                <a:cs typeface="맑은 고딕"/>
              </a:rPr>
              <a:t>인정해 통계가 부풀지 않습니다.</a:t>
            </a:r>
          </a:p>
        </p:txBody>
      </p:sp>
      <p:sp>
        <p:nvSpPr>
          <p:cNvPr id="32" name="back-point-4"/>
          <p:cNvSpPr/>
          <p:nvPr/>
        </p:nvSpPr>
        <p:spPr>
          <a:xfrm>
            <a:off x="4874400" y="9099000"/>
            <a:ext cx="2232000" cy="657000"/>
          </a:xfrm>
          <a:prstGeom prst="roundRect">
            <a:avLst>
              <a:gd name="adj" fmla="val 12000"/>
            </a:avLst>
          </a:prstGeom>
          <a:solidFill>
            <a:srgbClr val="F4F9FC"/>
          </a:solidFill>
          <a:ln w="9525">
            <a:solidFill>
              <a:srgbClr val="E5EE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back-point-badge-4"/>
          <p:cNvSpPr/>
          <p:nvPr/>
        </p:nvSpPr>
        <p:spPr>
          <a:xfrm>
            <a:off x="4982400" y="9207000"/>
            <a:ext cx="230400" cy="2304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4" name="back-point-title-4"/>
          <p:cNvSpPr txBox="1"/>
          <p:nvPr/>
        </p:nvSpPr>
        <p:spPr>
          <a:xfrm>
            <a:off x="5292000" y="9221400"/>
            <a:ext cx="1728000" cy="20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>
                <a:solidFill>
                  <a:srgbClr val="0C1B27"/>
                </a:solidFill>
                <a:latin typeface="맑은 고딕"/>
                <a:ea typeface="맑은 고딕"/>
                <a:cs typeface="맑은 고딕"/>
              </a:rPr>
              <a:t>AI에는 숫자만 보냅니다</a:t>
            </a:r>
          </a:p>
        </p:txBody>
      </p:sp>
      <p:sp>
        <p:nvSpPr>
          <p:cNvPr id="35" name="back-point-body-4"/>
          <p:cNvSpPr txBox="1"/>
          <p:nvPr/>
        </p:nvSpPr>
        <p:spPr>
          <a:xfrm>
            <a:off x="4982400" y="9473400"/>
            <a:ext cx="2016000" cy="26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5B7180"/>
                </a:solidFill>
                <a:latin typeface="맑은 고딕"/>
                <a:ea typeface="맑은 고딕"/>
                <a:cs typeface="맑은 고딕"/>
              </a:rPr>
              <a:t>이름·이메일 없이 통계 숫자만 Claude에 보내고,</a:t>
            </a:r>
          </a:p>
          <a:p>
            <a:pPr algn="l">
              <a:lnSpc>
                <a:spcPct val="100000"/>
              </a:lnSpc>
            </a:pPr>
            <a:r>
              <a:rPr sz="720" b="0">
                <a:solidFill>
                  <a:srgbClr val="5B7180"/>
                </a:solidFill>
                <a:latin typeface="맑은 고딕"/>
                <a:ea typeface="맑은 고딕"/>
                <a:cs typeface="맑은 고딕"/>
              </a:rPr>
              <a:t>통계가 바뀔 때만 다시 분석합니다.</a:t>
            </a:r>
          </a:p>
        </p:txBody>
      </p:sp>
      <p:sp>
        <p:nvSpPr>
          <p:cNvPr id="36" name="back-footer-bg"/>
          <p:cNvSpPr/>
          <p:nvPr/>
        </p:nvSpPr>
        <p:spPr>
          <a:xfrm>
            <a:off x="0" y="9972000"/>
            <a:ext cx="7563600" cy="720000"/>
          </a:xfrm>
          <a:prstGeom prst="rect">
            <a:avLst/>
          </a:prstGeom>
          <a:solidFill>
            <a:srgbClr val="0C1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back-footer-brand"/>
          <p:cNvSpPr txBox="1"/>
          <p:nvPr/>
        </p:nvSpPr>
        <p:spPr>
          <a:xfrm>
            <a:off x="457200" y="10123200"/>
            <a:ext cx="3240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PedalLink</a:t>
            </a:r>
          </a:p>
        </p:txBody>
      </p:sp>
      <p:sp>
        <p:nvSpPr>
          <p:cNvPr id="38" name="back-footer-sub"/>
          <p:cNvSpPr txBox="1"/>
          <p:nvPr/>
        </p:nvSpPr>
        <p:spPr>
          <a:xfrm>
            <a:off x="457200" y="10353600"/>
            <a:ext cx="3960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>
                <a:solidFill>
                  <a:srgbClr val="B9CAD6"/>
                </a:solidFill>
                <a:latin typeface="맑은 고딕"/>
                <a:ea typeface="맑은 고딕"/>
                <a:cs typeface="맑은 고딕"/>
              </a:rPr>
              <a:t>서울 자전거 경로 안내 · 협동 라이딩 플랫폼</a:t>
            </a:r>
          </a:p>
        </p:txBody>
      </p:sp>
      <p:sp>
        <p:nvSpPr>
          <p:cNvPr id="39" name="back-footer-gh-label"/>
          <p:cNvSpPr txBox="1"/>
          <p:nvPr/>
        </p:nvSpPr>
        <p:spPr>
          <a:xfrm>
            <a:off x="4982400" y="10123200"/>
            <a:ext cx="2120400" cy="16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1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GitHub</a:t>
            </a:r>
          </a:p>
        </p:txBody>
      </p:sp>
      <p:sp>
        <p:nvSpPr>
          <p:cNvPr id="40" name="back-footer-gh"/>
          <p:cNvSpPr txBox="1"/>
          <p:nvPr/>
        </p:nvSpPr>
        <p:spPr>
          <a:xfrm>
            <a:off x="4982400" y="10281600"/>
            <a:ext cx="2120400" cy="15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  <a:hlinkClick r:id="rId7"/>
              </a:rPr>
              <a:t>github.com/hosung5287-creator/Pedal_link</a:t>
            </a:r>
          </a:p>
        </p:txBody>
      </p:sp>
      <p:sp>
        <p:nvSpPr>
          <p:cNvPr id="41" name="back-footer-note"/>
          <p:cNvSpPr txBox="1"/>
          <p:nvPr/>
        </p:nvSpPr>
        <p:spPr>
          <a:xfrm>
            <a:off x="4982400" y="10447200"/>
            <a:ext cx="21204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50" b="0">
                <a:solidFill>
                  <a:srgbClr val="B9CAD6"/>
                </a:solidFill>
                <a:latin typeface="맑은 고딕"/>
                <a:ea typeface="맑은 고딕"/>
                <a:cs typeface="맑은 고딕"/>
              </a:rPr>
              <a:t>설계 기준 2026. 10 · khs 브랜치 코드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dalLink">
  <a:themeElements>
    <a:clrScheme name="PedalLink">
      <a:dk1>
        <a:srgbClr val="0C1B27"/>
      </a:dk1>
      <a:lt1>
        <a:srgbClr val="FFFFFF"/>
      </a:lt1>
      <a:dk2>
        <a:srgbClr val="0369A1"/>
      </a:dk2>
      <a:lt2>
        <a:srgbClr val="F4F9FC"/>
      </a:lt2>
      <a:accent1>
        <a:srgbClr val="0EA5E9"/>
      </a:accent1>
      <a:accent2>
        <a:srgbClr val="0284C7"/>
      </a:accent2>
      <a:accent3>
        <a:srgbClr val="FFCC4D"/>
      </a:accent3>
      <a:accent4>
        <a:srgbClr val="10B981"/>
      </a:accent4>
      <a:accent5>
        <a:srgbClr val="5B7180"/>
      </a:accent5>
      <a:accent6>
        <a:srgbClr val="E5EEF3"/>
      </a:accent6>
      <a:hlink>
        <a:srgbClr val="0284C7"/>
      </a:hlink>
      <a:folHlink>
        <a:srgbClr val="0369A1"/>
      </a:folHlink>
    </a:clrScheme>
    <a:fontScheme name="PedalLink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PedalLink 팜플렛</dc:title>
  <dc:subject>서울 자전거 경로 안내 및 협동 라이딩 플랫폼</dc:subject>
  <dc:creator>Team PedalLink</dc:creator>
  <cp:lastModifiedBy>Team PedalLink</cp:lastModifiedBy>
  <cp:revision>1</cp:revision>
  <dcterms:created xsi:type="dcterms:W3CDTF">2026-10-04T09:16:52Z</dcterms:created>
  <dcterms:modified xsi:type="dcterms:W3CDTF">2026-10-04T09:16:52Z</dcterms:modified>
</cp:coreProperties>
</file>